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737360"/>
            <a:ext cx="91440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Apple SD Gothic Neo"/>
              </a:defRPr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10058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4800" b="1">
                <a:solidFill>
                  <a:srgbClr val="111827"/>
                </a:solidFill>
                <a:latin typeface="Apple SD Gothic Neo"/>
              </a:defRPr>
            </a:pPr>
            <a:r>
              <a:t>GLIDE-SPEC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9144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2000" b="0">
                <a:solidFill>
                  <a:srgbClr val="374151"/>
                </a:solidFill>
                <a:latin typeface="Apple SD Gothic Neo"/>
              </a:defRPr>
            </a:pPr>
            <a:r>
              <a:t>Technical Anti-Chafing Stick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86200"/>
            <a:ext cx="4114800" cy="1371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144000" cy="914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11827"/>
                </a:solidFill>
                <a:latin typeface="Apple SD Gothic Neo"/>
              </a:defRPr>
            </a:pPr>
            <a:r>
              <a:t>20g Powder-in-Balm Stick</a:t>
            </a:r>
          </a:p>
          <a:p>
            <a:pPr algn="l">
              <a:defRPr sz="1350" b="0">
                <a:solidFill>
                  <a:srgbClr val="6B7280"/>
                </a:solidFill>
                <a:latin typeface="Apple SD Gothic Neo"/>
              </a:defRPr>
            </a:pPr>
            <a:r>
              <a:t>Marathon  ·  Trail  ·  Long-distance  ·  Military Ruck March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pple SD Gothic Neo"/>
              </a:defRPr>
            </a:pPr>
            <a:r>
              <a:t>Development baseline: Rev.7.3  |  Engineering status: Phase C — Physical Pilot Execution</a:t>
            </a:r>
            <a:br/>
            <a:r>
              <a:t>Co-founder discussion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9CA3AF"/>
                </a:solidFill>
                <a:latin typeface="Apple SD Gothic Neo"/>
              </a:defRPr>
            </a:pPr>
            <a:r>
              <a:t>02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ple SD Gothic Neo"/>
              </a:defRPr>
            </a:pPr>
            <a:r>
              <a:t>장시간 활동에서 반복되는 피부 마찰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제품 개발에서 해결해야 할 것은 단순한 윤활감이 아니라 실제 사용 중의 균형입니다.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1097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0">
                <a:solidFill>
                  <a:srgbClr val="9CA3AF"/>
                </a:solidFill>
                <a:latin typeface="Apple SD Gothic Neo"/>
              </a:defRPr>
            </a:pPr>
            <a:r>
              <a:t>GLIDE-SPEC 40  ·  Co-founder discussion  ·  02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4389120" cy="128016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주요 사용 부위</a:t>
            </a:r>
          </a:p>
          <a:p>
            <a:pPr algn="l">
              <a:defRPr sz="1150" b="0">
                <a:solidFill>
                  <a:srgbClr val="374151"/>
                </a:solidFill>
                <a:latin typeface="Apple SD Gothic Neo"/>
              </a:defRPr>
            </a:pPr>
            <a:r>
              <a:t>•  허벅지 안쪽  ·  사타구니  ·  겨드랑이  ·  발 &amp; 뒤꿈치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438912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개발에서 보는 사용성 요건</a:t>
            </a:r>
          </a:p>
          <a:p>
            <a:pPr algn="l">
              <a:defRPr sz="1150" b="0">
                <a:solidFill>
                  <a:srgbClr val="374151"/>
                </a:solidFill>
                <a:latin typeface="Apple SD Gothic Neo"/>
              </a:defRPr>
            </a:pPr>
            <a:r>
              <a:t>•  마찰 감소  ·  지속성  ·  사용감(보송함)  ·  의류 전이 최소화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92040"/>
            <a:ext cx="4389120" cy="128016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타깃 활동 환경</a:t>
            </a:r>
          </a:p>
          <a:p>
            <a:pPr algn="l">
              <a:defRPr sz="1150" b="0">
                <a:solidFill>
                  <a:srgbClr val="374151"/>
                </a:solidFill>
                <a:latin typeface="Apple SD Gothic Neo"/>
              </a:defRPr>
            </a:pPr>
            <a:r>
              <a:t>•  러닝 풀코스  ·  트레일러닝  ·  장거리 보행  ·  20kg 완전군장 행군</a:t>
            </a:r>
          </a:p>
        </p:txBody>
      </p:sp>
      <p:pic>
        <p:nvPicPr>
          <p:cNvPr id="13" name="Picture 12" descr="diagram_friction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5960"/>
            <a:ext cx="6035040" cy="3291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394960" y="5394960"/>
            <a:ext cx="60350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548640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ple SD Gothic Neo"/>
              </a:defRPr>
            </a:pPr>
            <a:r>
              <a:t>핵심: 반복 마찰을 줄이면서도 땀·움직임·의류 접촉을 견디는 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9CA3AF"/>
                </a:solidFill>
                <a:latin typeface="Apple SD Gothic Neo"/>
              </a:defRPr>
            </a:pPr>
            <a:r>
              <a:t>03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ple SD Gothic Neo"/>
              </a:defRPr>
            </a:pPr>
            <a:r>
              <a:t>제품은 4개의 기능 시스템으로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Rev.7.3은 최종 생산 Formula가 아니라 Pilot으로 연결하기 위한 개발 기준선입니다.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1097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0">
                <a:solidFill>
                  <a:srgbClr val="9CA3AF"/>
                </a:solidFill>
                <a:latin typeface="Apple SD Gothic Neo"/>
              </a:defRPr>
            </a:pPr>
            <a:r>
              <a:t>GLIDE-SPEC 40  ·  Co-founder discussion  ·  03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2542032" cy="150876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2212848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Apple SD Gothic Neo"/>
              </a:defRPr>
            </a:pPr>
            <a:r>
              <a:t>Powder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1E3A8A"/>
                </a:solidFill>
                <a:latin typeface="Apple SD Gothic Neo"/>
              </a:defRPr>
            </a:pPr>
            <a:r>
              <a:t>→ 마찰 저감 · 표면감</a:t>
            </a:r>
          </a:p>
          <a:p>
            <a:pPr algn="l">
              <a:defRPr sz="1050" b="0">
                <a:solidFill>
                  <a:srgbClr val="374151"/>
                </a:solidFill>
                <a:latin typeface="Apple SD Gothic Neo"/>
              </a:defRPr>
            </a:pPr>
            <a:r>
              <a:t>구상 파우더가 표면 마찰을 낮추고 땀·유분을 흡착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965960"/>
            <a:ext cx="2542032" cy="150876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2103120"/>
            <a:ext cx="2212848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Apple SD Gothic Neo"/>
              </a:defRPr>
            </a:pPr>
            <a:r>
              <a:t>Wax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1E3A8A"/>
                </a:solidFill>
                <a:latin typeface="Apple SD Gothic Neo"/>
              </a:defRPr>
            </a:pPr>
            <a:r>
              <a:t>→ 스틱 구조 · 사용성</a:t>
            </a:r>
          </a:p>
          <a:p>
            <a:pPr algn="l">
              <a:defRPr sz="1050" b="0">
                <a:solidFill>
                  <a:srgbClr val="374151"/>
                </a:solidFill>
                <a:latin typeface="Apple SD Gothic Neo"/>
              </a:defRPr>
            </a:pPr>
            <a:r>
              <a:t>상온 형상을 지지하고 도포량과 경도를 제어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965960"/>
            <a:ext cx="2542032" cy="150876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03120"/>
            <a:ext cx="2212848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Apple SD Gothic Neo"/>
              </a:defRPr>
            </a:pPr>
            <a:r>
              <a:t>Silicone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1E3A8A"/>
                </a:solidFill>
                <a:latin typeface="Apple SD Gothic Neo"/>
              </a:defRPr>
            </a:pPr>
            <a:r>
              <a:t>→ Spread · Slip</a:t>
            </a:r>
          </a:p>
          <a:p>
            <a:pPr algn="l">
              <a:defRPr sz="1050" b="0">
                <a:solidFill>
                  <a:srgbClr val="374151"/>
                </a:solidFill>
                <a:latin typeface="Apple SD Gothic Neo"/>
              </a:defRPr>
            </a:pPr>
            <a:r>
              <a:t>얇고 매끄럽게 펴지도록 초기 슬립과 감촉을 형성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965960"/>
            <a:ext cx="2542032" cy="150876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103120"/>
            <a:ext cx="2212848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Apple SD Gothic Neo"/>
              </a:defRPr>
            </a:pPr>
            <a:r>
              <a:t>Resin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1E3A8A"/>
                </a:solidFill>
                <a:latin typeface="Apple SD Gothic Neo"/>
              </a:defRPr>
            </a:pPr>
            <a:r>
              <a:t>→ 지속성 · 필름</a:t>
            </a:r>
          </a:p>
          <a:p>
            <a:pPr algn="l">
              <a:defRPr sz="1050" b="0">
                <a:solidFill>
                  <a:srgbClr val="374151"/>
                </a:solidFill>
                <a:latin typeface="Apple SD Gothic Neo"/>
              </a:defRPr>
            </a:pPr>
            <a:r>
              <a:t>땀·수분에 견디는 표면막을 형성해 윤활층 유지</a:t>
            </a:r>
          </a:p>
        </p:txBody>
      </p:sp>
      <p:pic>
        <p:nvPicPr>
          <p:cNvPr id="15" name="Picture 14" descr="diagram_4system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657600"/>
            <a:ext cx="8869680" cy="2423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pple SD Gothic Neo"/>
              </a:defRPr>
            </a:pPr>
            <a:r>
              <a:t>* 세부 원료 목록과 개별 배합비는 이 자료에서 생략하고, 시스템별 기능과 물성 제어에 집중합니다.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9CA3AF"/>
                </a:solidFill>
                <a:latin typeface="Apple SD Gothic Neo"/>
              </a:defRPr>
            </a:pPr>
            <a:r>
              <a:t>04 / DEVELOPMENT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ple SD Gothic Neo"/>
              </a:defRPr>
            </a:pPr>
            <a:r>
              <a:t>제품보다 개발 과정에 더 큰 차이가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원료 → 제조 → QC → 데이터가 이어지는 구조를 먼저 만든다.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1097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0">
                <a:solidFill>
                  <a:srgbClr val="9CA3AF"/>
                </a:solidFill>
                <a:latin typeface="Apple SD Gothic Neo"/>
              </a:defRPr>
            </a:pPr>
            <a:r>
              <a:t>GLIDE-SPEC 40  ·  Co-founder discussion  ·  04 / 08</a:t>
            </a:r>
          </a:p>
        </p:txBody>
      </p:sp>
      <p:pic>
        <p:nvPicPr>
          <p:cNvPr id="7" name="Picture 6" descr="diagram_engineer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10728655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434840"/>
            <a:ext cx="10728655" cy="173736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1E3A8A"/>
                </a:solidFill>
                <a:latin typeface="Apple SD Gothic Neo"/>
              </a:defRPr>
            </a:pPr>
            <a:r>
              <a:t>개발 원칙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Apple SD Gothic Neo"/>
              </a:defRPr>
            </a:pPr>
            <a:r>
              <a:t>•  원료 Lot 실측치 / 제조 공정 변수(온도·속도) / QC 측정값을 표준 스키마로 함께 기록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Apple SD Gothic Neo"/>
              </a:defRPr>
            </a:pPr>
            <a:r>
              <a:t>•  정량 QC(경도, 전이도)와 통계적 실험계획법(DOE)을 통해 배치 간 차이와 오차를 설명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74151"/>
                </a:solidFill>
                <a:latin typeface="Apple SD Gothic Neo"/>
              </a:defRPr>
            </a:pPr>
            <a:r>
              <a:t>•  실측 데이터가 쌓이면 다음 Formula를 시행착오 없이 체계적으로 최적화하는 폐루프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9CA3AF"/>
                </a:solidFill>
                <a:latin typeface="Apple SD Gothic Neo"/>
              </a:defRPr>
            </a:pPr>
            <a:r>
              <a:t>05 /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ple SD Gothic Neo"/>
              </a:defRPr>
            </a:pPr>
            <a:r>
              <a:t>현재는 실제 Pilot을 준비하는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엔지니어링 프레임워크는 구축됐고, 물리적 제조와 통계적 Qualification이 남아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1097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0">
                <a:solidFill>
                  <a:srgbClr val="9CA3AF"/>
                </a:solidFill>
                <a:latin typeface="Apple SD Gothic Neo"/>
              </a:defRPr>
            </a:pPr>
            <a:r>
              <a:t>GLIDE-SPEC 40  ·  Co-founder discussion  ·  05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212080" cy="2148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50" b="1">
                <a:solidFill>
                  <a:srgbClr val="111827"/>
                </a:solidFill>
                <a:latin typeface="Apple SD Gothic Neo"/>
              </a:defRPr>
            </a:pPr>
            <a:r>
              <a:t>완료된 엔지니어링 자산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74151"/>
                </a:solidFill>
                <a:latin typeface="Apple SD Gothic Neo"/>
              </a:defRPr>
            </a:pPr>
            <a:r>
              <a:t>•  Rev.7.3 development baseline 확정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74151"/>
                </a:solidFill>
                <a:latin typeface="Apple SD Gothic Neo"/>
              </a:defRPr>
            </a:pPr>
            <a:r>
              <a:t>•  원료 / 배합 데이터 구조 및 QC 측정 스키마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74151"/>
                </a:solidFill>
                <a:latin typeface="Apple SD Gothic Neo"/>
              </a:defRPr>
            </a:pPr>
            <a:r>
              <a:t>•  DOE + Regression / Qualification framework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74151"/>
                </a:solidFill>
                <a:latin typeface="Apple SD Gothic Neo"/>
              </a:defRPr>
            </a:pPr>
            <a:r>
              <a:t>•  Optimization framework &amp; Revision tracking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74151"/>
                </a:solidFill>
                <a:latin typeface="Apple SD Gothic Neo"/>
              </a:defRPr>
            </a:pPr>
            <a:r>
              <a:t>•  기초 시스템 테스트: 31 / 31 unit tests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212080" cy="2148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1">
                <a:solidFill>
                  <a:srgbClr val="1E3A8A"/>
                </a:solidFill>
                <a:latin typeface="Apple SD Gothic Neo"/>
              </a:defRPr>
            </a:pPr>
            <a:r>
              <a:t>현재 진행 위치</a:t>
            </a:r>
          </a:p>
          <a:p>
            <a:pPr algn="l">
              <a:spcAft>
                <a:spcPts val="200"/>
              </a:spcAft>
              <a:defRPr sz="1250" b="1">
                <a:solidFill>
                  <a:srgbClr val="111827"/>
                </a:solidFill>
                <a:latin typeface="Apple SD Gothic Neo"/>
              </a:defRPr>
            </a:pPr>
            <a:r>
              <a:t>Phase C — Physical Pilot Execution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실제 원료를 계량·제조하고 QC 실측값을 확보하는 단계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111827"/>
                </a:solidFill>
                <a:latin typeface="Apple SD Gothic Neo"/>
              </a:defRPr>
            </a:pPr>
            <a:r>
              <a:t>다음 직전 단계:</a:t>
            </a:r>
          </a:p>
          <a:p>
            <a:pPr algn="l">
              <a:defRPr sz="1100" b="0">
                <a:solidFill>
                  <a:srgbClr val="374151"/>
                </a:solidFill>
                <a:latin typeface="Apple SD Gothic Neo"/>
              </a:defRPr>
            </a:pPr>
            <a:r>
              <a:t>실제 원료 입고  →  18-run Pilot  →  QC 실측  →  통계적 Qualification</a:t>
            </a:r>
          </a:p>
        </p:txBody>
      </p:sp>
      <p:pic>
        <p:nvPicPr>
          <p:cNvPr id="11" name="Picture 10" descr="diagram_project_stag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1072865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9CA3AF"/>
                </a:solidFill>
                <a:latin typeface="Apple SD Gothic Neo"/>
              </a:defRPr>
            </a:pPr>
            <a:r>
              <a:t>06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ple SD Gothic Neo"/>
              </a:defRPr>
            </a:pPr>
            <a:r>
              <a:t>이제부터는 실제 실행이 중요하다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Pilot 데이터가 확보되어야 제품과 Production Model을 함께 판단할 수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1097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0">
                <a:solidFill>
                  <a:srgbClr val="9CA3AF"/>
                </a:solidFill>
                <a:latin typeface="Apple SD Gothic Neo"/>
              </a:defRPr>
            </a:pPr>
            <a:r>
              <a:t>GLIDE-SPEC 40  ·  Co-founder discussion  ·  06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399032" cy="3291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59152"/>
            <a:ext cx="1179576" cy="2962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E3A8A"/>
                </a:solidFill>
                <a:latin typeface="Apple SD Gothic Neo"/>
              </a:defRPr>
            </a:pPr>
            <a:r>
              <a:t>01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원료 공급사</a:t>
            </a:r>
          </a:p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CoA / 샘플 / Grade 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94560"/>
            <a:ext cx="1399032" cy="3291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2359152"/>
            <a:ext cx="1179576" cy="2962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E3A8A"/>
                </a:solidFill>
                <a:latin typeface="Apple SD Gothic Neo"/>
              </a:defRPr>
            </a:pPr>
            <a:r>
              <a:t>02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제조·Pilot 파트너</a:t>
            </a:r>
          </a:p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소량 제조·시험 생산 설비 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194560"/>
            <a:ext cx="1399032" cy="3291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359152"/>
            <a:ext cx="1179576" cy="2962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E3A8A"/>
                </a:solidFill>
                <a:latin typeface="Apple SD Gothic Neo"/>
              </a:defRPr>
            </a:pPr>
            <a:r>
              <a:t>03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18-run Pilot</a:t>
            </a:r>
          </a:p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설계된 18개 배치 정밀 실행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194560"/>
            <a:ext cx="1399032" cy="3291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4688" y="2359152"/>
            <a:ext cx="1179576" cy="2962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E3A8A"/>
                </a:solidFill>
                <a:latin typeface="Apple SD Gothic Neo"/>
              </a:defRPr>
            </a:pPr>
            <a:r>
              <a:t>04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QC + 사용자 테스트</a:t>
            </a:r>
          </a:p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물성 실측 + 실제 필드 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194560"/>
            <a:ext cx="1399032" cy="3291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2359152"/>
            <a:ext cx="1179576" cy="2962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E3A8A"/>
                </a:solidFill>
                <a:latin typeface="Apple SD Gothic Neo"/>
              </a:defRPr>
            </a:pPr>
            <a:r>
              <a:t>05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분석·최적화</a:t>
            </a:r>
          </a:p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회귀 / Formula refinement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194560"/>
            <a:ext cx="1399032" cy="3291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2359152"/>
            <a:ext cx="1179576" cy="2962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E3A8A"/>
                </a:solidFill>
                <a:latin typeface="Apple SD Gothic Neo"/>
              </a:defRPr>
            </a:pPr>
            <a:r>
              <a:t>06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Confirmation Run</a:t>
            </a:r>
          </a:p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최종 재현성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2194560"/>
            <a:ext cx="1399032" cy="329184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8128" y="2359152"/>
            <a:ext cx="1179576" cy="29626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E3A8A"/>
                </a:solidFill>
                <a:latin typeface="Apple SD Gothic Neo"/>
              </a:defRPr>
            </a:pPr>
            <a:r>
              <a:t>07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111827"/>
                </a:solidFill>
                <a:latin typeface="Apple SD Gothic Neo"/>
              </a:defRPr>
            </a:pPr>
            <a:r>
              <a:t>초기 생산 검토</a:t>
            </a:r>
          </a:p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3,000개 목표 (COGS ~₩2,950)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Apple SD Gothic Neo"/>
              </a:defRPr>
            </a:pPr>
            <a:r>
              <a:t>※ Target 값은 실제 측정값이 아닙니다. Pilot 결과에 따라 수정될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9CA3AF"/>
                </a:solidFill>
                <a:latin typeface="Apple SD Gothic Neo"/>
              </a:defRPr>
            </a:pPr>
            <a:r>
              <a:t>07 / BUSINESS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ple SD Gothic Neo"/>
              </a:defRPr>
            </a:pPr>
            <a:r>
              <a:t>첫 제품에서 시작해 기능성 제품으로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확정된 사업계획이 아니라, 첫 제품의 검증 이후 함께 발전시킬 장기 방향입니다.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1097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0">
                <a:solidFill>
                  <a:srgbClr val="9CA3AF"/>
                </a:solidFill>
                <a:latin typeface="Apple SD Gothic Neo"/>
              </a:defRPr>
            </a:pPr>
            <a:r>
              <a:t>GLIDE-SPEC 40  ·  Co-founder discussion  ·  07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429000" cy="33832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2971800" cy="2980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E3A8A"/>
                </a:solidFill>
                <a:latin typeface="Apple SD Gothic Neo"/>
              </a:defRPr>
            </a:pPr>
            <a:r>
              <a:t>01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Apple SD Gothic Neo"/>
              </a:defRPr>
            </a:pPr>
            <a:r>
              <a:t>GLIDE-SPEC 40</a:t>
            </a:r>
          </a:p>
          <a:p>
            <a:pPr algn="l">
              <a:defRPr sz="1200" b="0">
                <a:solidFill>
                  <a:srgbClr val="374151"/>
                </a:solidFill>
                <a:latin typeface="Apple SD Gothic Neo"/>
              </a:defRPr>
            </a:pPr>
            <a:r>
              <a:t>첫 제품 검증</a:t>
            </a:r>
            <a:br/>
            <a:r>
              <a:t>초기 생산 목표: 3,000개</a:t>
            </a:r>
            <a:br/>
            <a:br/>
            <a:r>
              <a:t>• 마라토너/행군 타깃의 명확한 효능 입증</a:t>
            </a:r>
            <a:br/>
            <a:r>
              <a:t>• 극단적 마찰 환경에서 코어 팬덤 구축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103120"/>
            <a:ext cx="3429000" cy="33832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304288"/>
            <a:ext cx="2971800" cy="2980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E3A8A"/>
                </a:solidFill>
                <a:latin typeface="Apple SD Gothic Neo"/>
              </a:defRPr>
            </a:pPr>
            <a:r>
              <a:t>02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Apple SD Gothic Neo"/>
              </a:defRPr>
            </a:pPr>
            <a:r>
              <a:t>Sports / Outdoor Functional</a:t>
            </a:r>
          </a:p>
          <a:p>
            <a:pPr algn="l">
              <a:defRPr sz="1200" b="0">
                <a:solidFill>
                  <a:srgbClr val="374151"/>
                </a:solidFill>
                <a:latin typeface="Apple SD Gothic Neo"/>
              </a:defRPr>
            </a:pPr>
            <a:r>
              <a:t>기능성 라인업 확장</a:t>
            </a:r>
            <a:br/>
            <a:r>
              <a:t>러닝 · 등산 · 사이클 · 군용</a:t>
            </a:r>
            <a:br/>
            <a:br/>
            <a:r>
              <a:t>• 땀/수분 제어, 쿨링, 피부 보호 제형</a:t>
            </a:r>
            <a:br/>
            <a:r>
              <a:t>• 구축된 배합 데이터베이스 재활용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2" y="2103120"/>
            <a:ext cx="3429000" cy="338328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2304288"/>
            <a:ext cx="2971800" cy="29809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E3A8A"/>
                </a:solidFill>
                <a:latin typeface="Apple SD Gothic Neo"/>
              </a:defRPr>
            </a:pPr>
            <a:r>
              <a:t>03</a:t>
            </a:r>
          </a:p>
          <a:p>
            <a:pPr algn="l">
              <a:spcAft>
                <a:spcPts val="1200"/>
              </a:spcAft>
              <a:defRPr sz="1600" b="1">
                <a:solidFill>
                  <a:srgbClr val="111827"/>
                </a:solidFill>
                <a:latin typeface="Apple SD Gothic Neo"/>
              </a:defRPr>
            </a:pPr>
            <a:r>
              <a:t>Data-based Development</a:t>
            </a:r>
          </a:p>
          <a:p>
            <a:pPr algn="l">
              <a:defRPr sz="1200" b="0">
                <a:solidFill>
                  <a:srgbClr val="374151"/>
                </a:solidFill>
                <a:latin typeface="Apple SD Gothic Neo"/>
              </a:defRPr>
            </a:pPr>
            <a:r>
              <a:t>재사용 가능한 개발 구조</a:t>
            </a:r>
            <a:br/>
            <a:r>
              <a:t>포뮬레이션 플랫폼 자산화</a:t>
            </a:r>
            <a:br/>
            <a:br/>
            <a:r>
              <a:t>• 원료-공정-QC 데이터베이스 자산화</a:t>
            </a:r>
            <a:br/>
            <a:r>
              <a:t>• 신제품 개발 주기 및 R&amp;D 비용 획기적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시장 규모나 매출 전망은 아직 넣지 않습니다. 첫 제품의 실제 제조·사용·판매 검증이 먼저입니다.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050" b="1">
                <a:solidFill>
                  <a:srgbClr val="9CA3AF"/>
                </a:solidFill>
                <a:latin typeface="Apple SD Gothic Neo"/>
              </a:defRPr>
            </a:pPr>
            <a:r>
              <a:t>08 / COFOUNDER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ple SD Gothic Neo"/>
              </a:defRPr>
            </a:pPr>
            <a:r>
              <a:t>지금부터 필요한 것은 실제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현재 기술 개발 기준과 데이터 구조를 실제 제품과 사업으로 연결할 파트너가 필요합니다.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1097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 b="0">
                <a:solidFill>
                  <a:srgbClr val="9CA3AF"/>
                </a:solidFill>
                <a:latin typeface="Apple SD Gothic Neo"/>
              </a:defRPr>
            </a:pPr>
            <a:r>
              <a:t>GLIDE-SPEC 40  ·  Co-founder discussion  ·  08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5212080" cy="347472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500" b="1">
                <a:solidFill>
                  <a:srgbClr val="111827"/>
                </a:solidFill>
                <a:latin typeface="Apple SD Gothic Neo"/>
              </a:defRPr>
            </a:pPr>
            <a:r>
              <a:t>필요한 실행 역량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제조사 / 원료사 네트워크 (소통 및 견적 협상)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Pilot 제조 및 샘플 현장 관리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사용자 필드 테스트 / 시장 검증 (러닝 크루 / 군 장병)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초기 판매 및 유통 채널 (크라우드펀딩 / D2C)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사업 운영 및 전체 마일스톤 일정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57400"/>
            <a:ext cx="5212080" cy="3474720"/>
          </a:xfrm>
          <a:prstGeom prst="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500" b="1">
                <a:solidFill>
                  <a:srgbClr val="111827"/>
                </a:solidFill>
                <a:latin typeface="Apple SD Gothic Neo"/>
              </a:defRPr>
            </a:pPr>
            <a:r>
              <a:t>함께 결정할 것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역할 분담 (R&amp;D/시스템 vs 사업개발/운영)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제조 방식 (자체 연구소 조제 vs 외주 OEM)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초기 자금과 예산 배분 계획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초기 시장 진입 방식 (러너 커뮤니티 vs 군수/아웃도어)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374151"/>
                </a:solidFill>
                <a:latin typeface="Apple SD Gothic Neo"/>
              </a:defRPr>
            </a:pPr>
            <a:r>
              <a:t>•  첫 생산(3,000개 목표) 및 판매 계획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15000"/>
            <a:ext cx="10728655" cy="5486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</a:defRPr>
            </a:pPr>
            <a:r>
              <a:t>“이제 이 프로젝트를 실제 제품과 사업으로 만들어가는 단계입니다.”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