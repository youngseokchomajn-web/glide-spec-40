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Pretendard"/>
              </a:defRPr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4600" b="1">
                <a:solidFill>
                  <a:srgbClr val="111827"/>
                </a:solidFill>
                <a:latin typeface="Pretendard"/>
              </a:defRPr>
            </a:pPr>
            <a:r>
              <a:t>GLIDE-SPEC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0">
                <a:solidFill>
                  <a:srgbClr val="374151"/>
                </a:solidFill>
                <a:latin typeface="Pretendard"/>
              </a:defRPr>
            </a:pPr>
            <a:r>
              <a:t>Technical Anti-Chafing 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31920"/>
            <a:ext cx="548640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1440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374151"/>
                </a:solidFill>
                <a:latin typeface="Pretendard"/>
              </a:defRPr>
            </a:pPr>
            <a:r>
              <a:t>20g Powder-in-Balm Stick</a:t>
            </a:r>
          </a:p>
          <a:p>
            <a:pPr algn="l">
              <a:defRPr sz="1400" b="0">
                <a:solidFill>
                  <a:srgbClr val="6B7280"/>
                </a:solidFill>
                <a:latin typeface="Pretendard"/>
              </a:defRPr>
            </a:pPr>
            <a:r>
              <a:t>Marathon  ·  Trail Running  ·  Long-distance  ·  Military Ruck March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Pretendard"/>
              </a:defRPr>
            </a:pPr>
            <a:r>
              <a:t>Development Baseline: Rev.7.3  |  Engineering Status: Phase C Pilot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02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무엇을 만들고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장시간 고강도 활동 시 발생하는 피부 마찰 문제를 해결하는 기능성 스틱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Pretendard"/>
              </a:defRPr>
            </a:pPr>
            <a:r>
              <a:t>GLIDE-SPEC 40은 장시간 달리거나 걷는 상황에서 발생하는 피부 마찰을 줄이기 위한 스틱형 제품입니다.</a:t>
            </a:r>
            <a:br/>
            <a:r>
              <a:t>의류나 피부 간의 반복 마찰로 인한 쓸림(Chafing)을 방지하여 기동력과 집중력을 보존합니다.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4937760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43891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주요 사용 부위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허벅지  —  다리 간 지속 마찰로 가장 빈번한 찰과상 발생 부위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사타구니  —  땀과 열이 집중되어 심한 쓸림과 통증이 발생하는 부위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겨드랑이  —  팔의 반복 스윙 및 배낭 스트랩 압박 마찰 부위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발 &amp; 뒤꿈치  —  신발 내 전단 하중으로 물집과 피부 탈락이 발생하는 부위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926080"/>
            <a:ext cx="4937760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54680"/>
            <a:ext cx="43891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핵심 개발 방향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마찰 감소  —  전단 미끄럼성을 확보하여 동적 마찰 계수 최소화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지속성  —  땀과 수분에 쉽게 씻겨나가지 않는 견고한 필름 유지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사용감  —  도포 직후 번들거림이나 끈적임 없는 보송한 마무리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전이 최소화  —  의류, 양말, 군복으로 유분과 성분이 묻어나지 않도록 제어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03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제품의 개발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Rev.7.3 개발 기준선 — 4대 기능 시스템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28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Pretendard"/>
              </a:defRPr>
            </a:pPr>
            <a:r>
              <a:t>단순 유분막 형성에 의존하지 않고, 4개의 상호 보완적인 화학 시스템으로 분업화된 구조를 설계했습니다.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24231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Powder System</a:t>
            </a:r>
          </a:p>
          <a:p>
            <a:pPr algn="l">
              <a:spcAft>
                <a:spcPts val="1400"/>
              </a:spcAft>
              <a:defRPr sz="1200" b="1">
                <a:solidFill>
                  <a:srgbClr val="1E3A8A"/>
                </a:solidFill>
                <a:latin typeface="Pretendard"/>
              </a:defRPr>
            </a:pPr>
            <a:r>
              <a:t>→ 마찰 저감 &amp; 표면감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구상 실리카 및 기능성 파우더.</a:t>
            </a:r>
            <a:br/>
            <a:r>
              <a:t>마이크로 볼베어링 역할을 수행하여 마찰 저항을 줄이고, 땀과 유분을 흡착해 보송한 건식 표면감을 부여합니다.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7016" y="2606040"/>
            <a:ext cx="24231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2834640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Wax System</a:t>
            </a:r>
          </a:p>
          <a:p>
            <a:pPr algn="l">
              <a:spcAft>
                <a:spcPts val="1400"/>
              </a:spcAft>
              <a:defRPr sz="1200" b="1">
                <a:solidFill>
                  <a:srgbClr val="1E3A8A"/>
                </a:solidFill>
                <a:latin typeface="Pretendard"/>
              </a:defRPr>
            </a:pPr>
            <a:r>
              <a:t>→ 스틱 구조 &amp; 사용성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합성 왁스 및 식물성 왁스 블렌드.</a:t>
            </a:r>
            <a:br/>
            <a:r>
              <a:t>상온(25°C)에서 단단한 스틱 형상을 지지하고, 피부 도포 시 일정한 양이 균일하게 발리도록 경도를 제어합니다.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606040"/>
            <a:ext cx="24231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834640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Silicone System</a:t>
            </a:r>
          </a:p>
          <a:p>
            <a:pPr algn="l">
              <a:spcAft>
                <a:spcPts val="1400"/>
              </a:spcAft>
              <a:defRPr sz="1200" b="1">
                <a:solidFill>
                  <a:srgbClr val="1E3A8A"/>
                </a:solidFill>
                <a:latin typeface="Pretendard"/>
              </a:defRPr>
            </a:pPr>
            <a:r>
              <a:t>→ Spread &amp; Slip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경량 실리콘 오일 복합체.</a:t>
            </a:r>
            <a:br/>
            <a:r>
              <a:t>도포 초기 뭉침 없이 피부 전체에 얇고 매끄럽게 펴 발리는 슬립성과 산뜻한 피부 감촉을 형성합니다.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2248" y="2606040"/>
            <a:ext cx="24231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2834640"/>
            <a:ext cx="2057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Resin System</a:t>
            </a:r>
          </a:p>
          <a:p>
            <a:pPr algn="l">
              <a:spcAft>
                <a:spcPts val="1400"/>
              </a:spcAft>
              <a:defRPr sz="1200" b="1">
                <a:solidFill>
                  <a:srgbClr val="1E3A8A"/>
                </a:solidFill>
                <a:latin typeface="Pretendard"/>
              </a:defRPr>
            </a:pPr>
            <a:r>
              <a:t>→ 지속성 &amp; 필름 형성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MQ Silicone Resin 고형분.</a:t>
            </a:r>
            <a:br/>
            <a:r>
              <a:t>도포 후 피부 표면에 땀과 수분에 견디는 보호막을 형성하여 장거리 활동 내내 윤활층이 유지되도록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* 세부 원료 전체 목록과 개별 배합비는 본 자료에서 생략하며, 각 시스템별 기능적 역할과 물성 제어에 집중합니다.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04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제품보다 개발 과정에 더 큰 차이가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기록과 통계적 검증을 기반으로 한 제품 개발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원료 규격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배합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Pilot 제조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QC 실측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실제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286000"/>
            <a:ext cx="12344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통계적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423160"/>
            <a:ext cx="2743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2286000"/>
            <a:ext cx="12344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Pretendard"/>
              </a:defRPr>
            </a:pPr>
            <a:r>
              <a:t>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337560"/>
            <a:ext cx="498348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611880"/>
            <a:ext cx="44348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기존 화장품/스틱 개발 방식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경험과 주관적 촉감 중심의 단순 시행착오(Trial &amp; Error) 반복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제조 조건(온도, 교반)과 품질 측정 데이터가 체계적으로 남지 않음</a:t>
            </a:r>
          </a:p>
          <a:p>
            <a:pPr algn="l"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배치 간 품질 편차가 발생했을 때 원인 규명과 수정이 어려움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4983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611880"/>
            <a:ext cx="44348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1E3A8A"/>
                </a:solidFill>
                <a:latin typeface="Pretendard"/>
              </a:defRPr>
            </a:pPr>
            <a:r>
              <a:t>GLIDE-SPEC 40의 엔지니어링 개발 방식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투입 원료의 Lot 실측치와 제조 공정 변수(온도/속도) 전수 기록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경도, 전이도, 용융 거동 등 정량적 QC 지표의 통계적 검증</a:t>
            </a:r>
          </a:p>
          <a:p>
            <a:pPr algn="l">
              <a:defRPr sz="1300" b="0">
                <a:solidFill>
                  <a:srgbClr val="374151"/>
                </a:solidFill>
                <a:latin typeface="Pretendard"/>
              </a:defRPr>
            </a:pPr>
            <a:r>
              <a:t>•  축적된 실측 데이터를 기반으로 다음 포뮬러를 체계적으로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05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현재는 실제 Pilot을 준비하는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엔지니어링 프레임워크 구축 완료 및 물리적 제조 진입 직전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5029200" cy="310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완료된 엔지니어링 자산 (Completed)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제품 개발 기준 확정 (Rev.7.3 Baseline)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원료 규격 및 배합 데이터 구조 확립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QC 측정 지표 및 품질 데이터 구조 표준화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실험계획법(DOE) 및 통계 분석 Framework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포뮬러 최적화 및 적격성 평가(Qualification) 엔진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코드 및 배합 형상 관리(Revision Tracking)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기초 시스템 테스트 31/31 Unit Tests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029200" cy="310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E3A8A"/>
                </a:solidFill>
                <a:latin typeface="Pretendard"/>
              </a:defRPr>
            </a:pPr>
            <a:r>
              <a:t>현재 위치 (Current Focus)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Phase C — Physical Pilot Execution</a:t>
            </a:r>
          </a:p>
          <a:p>
            <a:pPr algn="l">
              <a:spcAft>
                <a:spcPts val="1600"/>
              </a:spcAft>
              <a:defRPr sz="1200" b="0">
                <a:solidFill>
                  <a:srgbClr val="6B7280"/>
                </a:solidFill>
                <a:latin typeface="Pretendard"/>
              </a:defRPr>
            </a:pPr>
            <a:r>
              <a:t>이론적 계산 및 데이터베이스 구축을 마치고, 실제 실험실 환경에서 원료를 계량·제조하는 실행 단계로 진입합니다.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직전 다음 단계 (Immediate Next)</a:t>
            </a:r>
          </a:p>
          <a:p>
            <a:pPr algn="l">
              <a:defRPr sz="1200" b="1">
                <a:solidFill>
                  <a:srgbClr val="374151"/>
                </a:solidFill>
                <a:latin typeface="Pretendard"/>
              </a:defRPr>
            </a:pPr>
            <a:r>
              <a:t>실제 원료 입고  →  Pilot 제조 (18 Runs)  →  QC 실측  →  통계적 Qualification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중요 원칙: Production Model은 아직 Qualified(공식 자격 승격) 상태가 아닙니다.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공개 벤치마크 데이터로 알고리즘 안정성은 검증했으나, 실제 제품 자격은 향후 파일럿 실측 데이터가 확보되어야 최종 판정됩니다.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06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이제부터는 실제 실행이 중요하다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실제 파일럿 제조부터 초기 양산 검토까지의 8단계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343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01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원료 공급사 확보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핵심 원료(Resin, Wax, Silicone 등)의 공급선 컨택, CoA 및 샘플 입고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7016" y="214884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9896" y="231343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02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제조/Pilot 파트너 확보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소량 파일럿 조제 및 시험 생산이 가능한 OEM/연구 파트너 섭외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14884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31343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03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18-run Pilot 실행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무작위 제조 순서와 중심점 4회 반복이 설계된 18개 시험 배치 제조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2248" y="214884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31343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04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QC 및 제조 데이터 확보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경도(gf), 도포 전이량(g), 온도 편차 등 정량적 물성 실측치 계측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2511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05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실제 사용자 테스트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마라톤 풀코스, 트레일러너, 군장 행군 대상자 필드 쓸림 방어 테스트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57016" y="416052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9896" y="432511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06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결과 분석 및 최적화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실측치 회귀 분석 및 한계 영역 파악을 통한 Formula Refinement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416052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32511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07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Confirmation Run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최종 확정 포뮬러에 대한 재현성 검증 및 생산 규격 승격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2248" y="4160520"/>
            <a:ext cx="242316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4325112"/>
            <a:ext cx="2057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08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초기 생산 검토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초기 목표 3,000개 생산 준비 (Target COGS ~₩2,950 / unit)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07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첫 제품은 GLIDE-SPEC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단일 제품에서 시작하여 기능성 제품 라인업과 개발 플랫폼으로의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32918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Step 1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GLIDE-SPEC 40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초경량 테크니컬 안티체이핑 스틱</a:t>
            </a:r>
            <a:br/>
            <a:br/>
            <a:r>
              <a:t>• 마라토너/장거리 행군 타깃 검증</a:t>
            </a:r>
            <a:br/>
            <a:r>
              <a:t>• 극단적 마찰 환경에서의 명확한 효능 입증</a:t>
            </a:r>
            <a:br/>
            <a:r>
              <a:t>• 확실한 효능을 통한 초기 코어 팬덤 구축</a:t>
            </a:r>
            <a:br/>
            <a:r>
              <a:t>• 초기 생산 목표: 3,000개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3984" y="2194560"/>
            <a:ext cx="32918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2423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Step 2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Sports / Outdoor Functional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스포츠·아웃도어 기능성 라인업 확장</a:t>
            </a:r>
            <a:br/>
            <a:br/>
            <a:r>
              <a:t>• 땀/수분 제어 기능성 제품군</a:t>
            </a:r>
            <a:br/>
            <a:r>
              <a:t>• 쿨링 및 피부 보호 제형 확장</a:t>
            </a:r>
            <a:br/>
            <a:r>
              <a:t>• 러닝, 등산, 사이클, 군용 맞춤 스펙</a:t>
            </a:r>
            <a:br/>
            <a:r>
              <a:t>• 데이터 기반 배합 시스템 재활용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194560"/>
            <a:ext cx="329184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423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3A8A"/>
                </a:solidFill>
                <a:latin typeface="Pretendard"/>
              </a:defRPr>
            </a:pPr>
            <a:r>
              <a:t>Step 3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데이터 기반 제품 개발 시스템</a:t>
            </a:r>
          </a:p>
          <a:p>
            <a:pPr algn="l"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시행착오를 줄이는 포뮬레이션 플랫폼</a:t>
            </a:r>
            <a:br/>
            <a:br/>
            <a:r>
              <a:t>• 원료-공정-QC 데이터베이스 자산화</a:t>
            </a:r>
            <a:br/>
            <a:r>
              <a:t>• 신제품 개발 주기 및 R&amp;D 비용 획기적 단축</a:t>
            </a:r>
            <a:br/>
            <a:r>
              <a:t>• 반복 가능하고 재현성 높은 B2B/브랜드 기반</a:t>
            </a:r>
            <a:br/>
            <a:r>
              <a:t>• 제조 데이터 기반의 진입 장벽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장기적으로는 Anti-Chafing 제품 하나에 머무르지 않고, 스포츠·아웃도어용 기능성 제품으로 확장할 수 있는 기반을 만드는 것이 목표입니다.</a:t>
            </a:r>
          </a:p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* 본 내용은 과장된 사업 계획서가 아니며, 첫 번째 제품을 성공적으로 론칭한 이후 함께 논의하며 발전시켜 나갈 장기적 방향성입니다.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Pretendard"/>
              </a:defRPr>
            </a:pPr>
            <a:r>
              <a:t>GLIDE-SPEC 40   |   08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Pretendard"/>
              </a:defRPr>
            </a:pPr>
            <a:r>
              <a:t>지금 필요한 것은 실제 실행이다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엔지니어링 설계를 바탕으로 함께 만들어갈 실행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62895" cy="9144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GLIDE-SPEC 40  —  Co-founder Discussion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Pretendard"/>
              </a:defRPr>
            </a:pPr>
            <a:r>
              <a:t>현재 기술 개발 기준과 데이터 분석 구조는 상당 부분 준비되어 있습니다. 이제 책상 위의 계획을 실제 제품과 사업으로 완성할 파트너가 필요합니다.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498348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434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앞으로 필요한 실제 실행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제조사 및 원료사 네트워크 (OEM/ODM 소통 및 협상)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실제 Pilot 제조 현장 실행 및 샘플 관리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사용자 필드 테스트 진행 (러닝 크루 / 군 장병)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타깃 시장 검증 및 고객 피드백 정량화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초기 판매 및 유통 채널 확보 (크라우드펀딩 / D2C)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사업 운영 전반 및 일정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606040"/>
            <a:ext cx="4983480" cy="2743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4434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함께 결정할 사항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역할 분담 (R&amp;D/시스템 vs 사업개발/운영)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제조 방식 (자체 파일럿 연구소 조제 vs 외주 OEM 진행)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초기 자금 조달 및 예산 배분 계획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초기 시장 진입 전략 (러너 커뮤니티 vs 군수/아웃도어)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첫 생산(3,000개) 및 론칭 타임라인 확정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Pretendard"/>
              </a:defRPr>
            </a:pPr>
            <a:r>
              <a:t>•  지분 및 파트너십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“이제 이 프로젝트를 실제 제품과 사업으로 만들어가는 단계입니다.”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